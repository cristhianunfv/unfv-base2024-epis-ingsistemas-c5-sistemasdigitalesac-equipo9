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9" r:id="rId4"/>
    <p:sldId id="260" r:id="rId5"/>
    <p:sldId id="257" r:id="rId6"/>
    <p:sldId id="258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8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926080" cy="2926080"/>
          </a:xfrm>
          <a:prstGeom prst="ellipse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486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0058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INTELIGENTE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20040" y="1664208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TRÁFICO URBANO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320040" y="2514600"/>
            <a:ext cx="53035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25786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Adaptativo con Monitoreo en Tiempo Real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3246120"/>
            <a:ext cx="16002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Semáforo Adaptativo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057400" y="3246120"/>
            <a:ext cx="16002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5740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Conteo Vehicular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794760" y="3246120"/>
            <a:ext cx="16002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Registro SD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32120" y="3246120"/>
            <a:ext cx="16002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3212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269480" y="3246120"/>
            <a:ext cx="16002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3246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Análisis Estadístico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0040" y="39319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ESP32 DevKit V1  ·  HC-SR04  ·  LEDs  ·  MicroSD  ·  OLED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</a:rPr>
              <a:t>Proyecto Universitario  |  Ingeniería de Sistemas  |  2025</a:t>
            </a:r>
            <a:endParaRPr lang="en-US" sz="9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82C639D-8875-453C-A653-C2CF8BAFACB5}"/>
              </a:ext>
            </a:extLst>
          </p:cNvPr>
          <p:cNvSpPr/>
          <p:nvPr/>
        </p:nvSpPr>
        <p:spPr>
          <a:xfrm>
            <a:off x="2103120" y="3831336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</a:rPr>
              <a:t>Grupo 9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EQUIPO DE TRABAJO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743200" cy="18288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32015" y="960120"/>
            <a:ext cx="20449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Walter Delgado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176479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08483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Líder del Proyecto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23225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F0F8"/>
                </a:solidFill>
              </a:rPr>
              <a:t>Coordinación general y arquitectura del sistema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08960" y="822960"/>
            <a:ext cx="2743200" cy="18288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12" name="Shape 10"/>
          <p:cNvSpPr/>
          <p:nvPr/>
        </p:nvSpPr>
        <p:spPr>
          <a:xfrm>
            <a:off x="3108960" y="82296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182112" y="960120"/>
            <a:ext cx="25968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Oscar Mamani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82112" y="176479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82112" y="208483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Hardware &amp; Electrónica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82112" y="23225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F0F8"/>
                </a:solidFill>
              </a:rPr>
              <a:t>Diseño de circuitos, sensores y actuadores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35040" y="822960"/>
            <a:ext cx="2743200" cy="18288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82296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201295" y="960120"/>
            <a:ext cx="24106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Héctor </a:t>
            </a:r>
            <a:r>
              <a:rPr lang="en-US" sz="1800" b="1" dirty="0" err="1">
                <a:solidFill>
                  <a:srgbClr val="00B4D8"/>
                </a:solidFill>
              </a:rPr>
              <a:t>Quispe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08192" y="176479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08192" y="208483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Firmware ESP32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08192" y="23225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F0F8"/>
                </a:solidFill>
              </a:rPr>
              <a:t>Programación del microcontrolador y lógica adaptativa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45920" y="2834640"/>
            <a:ext cx="2743200" cy="18288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0" y="28346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1719072" y="2971800"/>
            <a:ext cx="25968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Johnny Pascual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19072" y="377647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19072" y="409651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Dashboard &amp; WiFi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19072" y="433425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F0F8"/>
                </a:solidFill>
              </a:rPr>
              <a:t>Servidor HTTP, interfaz web y visualización de datos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0" y="2834640"/>
            <a:ext cx="2743200" cy="18288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33" name="Shape 31"/>
          <p:cNvSpPr/>
          <p:nvPr/>
        </p:nvSpPr>
        <p:spPr>
          <a:xfrm>
            <a:off x="4572000" y="28346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763832" y="2971800"/>
            <a:ext cx="23595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Christian Garcia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45152" y="377647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Integrante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45152" y="4096512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Registro &amp; Análisis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45152" y="433425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AF0F8"/>
                </a:solidFill>
              </a:rPr>
              <a:t>Módulo MicroSD, análisis estadístico y reportes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</a:rPr>
              <a:t>Sistema Inteligente de Tráfico Urbano  |  Equipo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PLANTEAMIENTO DEL PROBLEMA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3291840" cy="40690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32918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005840"/>
            <a:ext cx="1280160" cy="1280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70432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" y="2761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Semáforos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Tiempo Fijo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3337560"/>
            <a:ext cx="3145536" cy="384048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33375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30%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33375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tiempo perdido 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colas innecesarias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" y="3776472"/>
            <a:ext cx="3145536" cy="384048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377647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2×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37764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más emisiones CO₂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en hora pico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56032" y="4215384"/>
            <a:ext cx="3145536" cy="384048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421538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~0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421538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adaptación al flujo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vehicular real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49040" y="841248"/>
            <a:ext cx="5212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749040" y="841248"/>
            <a:ext cx="54864" cy="8778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896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Ciclos rígidos e ineficientes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77056" y="1152144"/>
            <a:ext cx="5010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</a:rPr>
              <a:t>Los semáforos convencionales operan con tiempos predefinidos que no responden al volumen real de vehículos en cada carril, generando colas innecesarias.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749040" y="1810512"/>
            <a:ext cx="5212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49040" y="1810512"/>
            <a:ext cx="54864" cy="8778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2"/>
          <p:cNvSpPr/>
          <p:nvPr/>
        </p:nvSpPr>
        <p:spPr>
          <a:xfrm>
            <a:off x="3877056" y="18653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Desaprovechamiento del verde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877056" y="2121408"/>
            <a:ext cx="5010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</a:rPr>
              <a:t>Una vía vacía mantiene luz verde mientras la vía colapsada espera, desperdiciando tiempo y combustible de decenas de conductores.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749040" y="2779776"/>
            <a:ext cx="5212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749040" y="2779776"/>
            <a:ext cx="54864" cy="8778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6"/>
          <p:cNvSpPr/>
          <p:nvPr/>
        </p:nvSpPr>
        <p:spPr>
          <a:xfrm>
            <a:off x="3877056" y="2834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Ausencia de datos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877056" y="3090672"/>
            <a:ext cx="5010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</a:rPr>
              <a:t>No existe registro histórico del flujo vehicular, impidiendo análisis, planificación urbana y mejoras basadas en evidencia.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749040" y="3749040"/>
            <a:ext cx="5212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749040" y="3749040"/>
            <a:ext cx="54864" cy="8778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0"/>
          <p:cNvSpPr/>
          <p:nvPr/>
        </p:nvSpPr>
        <p:spPr>
          <a:xfrm>
            <a:off x="3877056" y="38039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Impacto ambiental y económico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877056" y="4059936"/>
            <a:ext cx="5010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44444"/>
                </a:solidFill>
              </a:rPr>
              <a:t>La congestión provocada eleva el consumo de combustible, las emisiones contaminantes y el tiempo de traslado de la ciudadanía.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3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</a:rPr>
              <a:t>Sistema Inteligente de Tráfico Urbano  |  Problema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OBJETIVOS DEL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1170432"/>
          </a:xfrm>
          <a:prstGeom prst="rect">
            <a:avLst/>
          </a:prstGeom>
          <a:solidFill>
            <a:srgbClr val="1B4F72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73152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503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</a:rPr>
              <a:t>OBJETIVO PRINCIPAL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1097280"/>
            <a:ext cx="850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Diseñar e implementar un sistema de semáforo adaptativo basado en ESP32 que detecte el flujo vehicular en tiempo real mediante sensores ultrasónicos HC-SR04, ajuste automáticamente los tiempos de fase, registre los datos en tarjeta MicroSD y los visualice en un dashboard web y display OLED.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OBJETIVOS ESPECÍFICOS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2450592"/>
            <a:ext cx="8778240" cy="438912"/>
          </a:xfrm>
          <a:prstGeom prst="rect">
            <a:avLst/>
          </a:prstGeom>
          <a:solidFill>
            <a:srgbClr val="142230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450592"/>
            <a:ext cx="475488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245059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5059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Implementar la detección de vehículos con el sensor HC-SR04 y calibrar su precisión para diferentes condiciones de tráfico.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953512"/>
            <a:ext cx="8778240" cy="438912"/>
          </a:xfrm>
          <a:prstGeom prst="rect">
            <a:avLst/>
          </a:prstGeom>
          <a:solidFill>
            <a:srgbClr val="142230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953512"/>
            <a:ext cx="475488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29535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95351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Desarrollar el algoritmo adaptativo que ajuste los tiempos de semáforo según el conteo vehicular en tiempo real.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3456432"/>
            <a:ext cx="8778240" cy="438912"/>
          </a:xfrm>
          <a:prstGeom prst="rect">
            <a:avLst/>
          </a:prstGeom>
          <a:solidFill>
            <a:srgbClr val="142230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456432"/>
            <a:ext cx="475488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345643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45643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Registrar en tarjeta MicroSD los datos de flujo con timestamp para análisis histórico en formato .csv.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959352"/>
            <a:ext cx="8778240" cy="438912"/>
          </a:xfrm>
          <a:prstGeom prst="rect">
            <a:avLst/>
          </a:prstGeom>
          <a:solidFill>
            <a:srgbClr val="142230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959352"/>
            <a:ext cx="475488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" y="395935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95935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Construir un dashboard web accesible vía WiFi que muestre estadísticas, gráficas de flujo y el estado actual del semáforo.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4462272"/>
            <a:ext cx="8778240" cy="438912"/>
          </a:xfrm>
          <a:prstGeom prst="rect">
            <a:avLst/>
          </a:prstGeom>
          <a:solidFill>
            <a:srgbClr val="142230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462272"/>
            <a:ext cx="475488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446227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46227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Validar el sistema mediante pruebas comparativas entre el modo fijo y el modo adaptativo, midiendo reducción de tiempos de espera.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</a:rPr>
              <a:t>Sistema Inteligente de Tráfico Urbano  |  Objetivos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DIAGRAMA DE BLOQUES — Sistema Inteligente de Tráfico Urbano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960120"/>
            <a:ext cx="1417320" cy="658368"/>
          </a:xfrm>
          <a:prstGeom prst="rect">
            <a:avLst/>
          </a:prstGeom>
          <a:solidFill>
            <a:srgbClr val="1565A4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2024" y="960120"/>
            <a:ext cx="1362456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HC-SR04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FFF"/>
                </a:solidFill>
              </a:rPr>
              <a:t>Sensor Ultrasónico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05840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81912" y="1289304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5400000">
            <a:off x="1965960" y="1234440"/>
            <a:ext cx="109728" cy="109728"/>
          </a:xfrm>
          <a:prstGeom prst="triangl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39112" y="804672"/>
            <a:ext cx="201168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66544" y="804672"/>
            <a:ext cx="1956816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877824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39112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ESP32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039112" y="1664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DevKit V1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039112" y="19476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DB5BD"/>
                </a:solidFill>
              </a:rPr>
              <a:t>MICROCONTROLADOR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2121408" y="2212848"/>
            <a:ext cx="868680" cy="256032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21408" y="22128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Lógica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Adaptativa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3063240" y="2212848"/>
            <a:ext cx="868680" cy="256032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063240" y="22128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Conteo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Vehicular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4050792" y="1289304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rot="5400000">
            <a:off x="4434840" y="1234440"/>
            <a:ext cx="109728" cy="109728"/>
          </a:xfrm>
          <a:prstGeom prst="triangl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07992" y="960120"/>
            <a:ext cx="141732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535424" y="960120"/>
            <a:ext cx="1362456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LEDs RGB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FFF"/>
                </a:solidFill>
              </a:rPr>
              <a:t>Semáforo Visual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050792" y="18745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rot="5400000">
            <a:off x="4434840" y="1819656"/>
            <a:ext cx="109728" cy="109728"/>
          </a:xfrm>
          <a:prstGeom prst="triangl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07992" y="1709928"/>
            <a:ext cx="141732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535424" y="1709928"/>
            <a:ext cx="1362456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 OLED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FFF"/>
                </a:solidFill>
              </a:rPr>
              <a:t>0.96" I²C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050792" y="2487168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 rot="5400000">
            <a:off x="4434840" y="2432304"/>
            <a:ext cx="109728" cy="109728"/>
          </a:xfrm>
          <a:prstGeom prst="triangl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07992" y="2228770"/>
            <a:ext cx="141732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535424" y="2157984"/>
            <a:ext cx="1362456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MicroSD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FFF"/>
                </a:solidFill>
              </a:rPr>
              <a:t>Almacenamiento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044952" y="2999232"/>
            <a:ext cx="0" cy="34747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rot="10800000">
            <a:off x="2990088" y="3273552"/>
            <a:ext cx="109728" cy="109728"/>
          </a:xfrm>
          <a:prstGeom prst="triangl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039112" y="3346704"/>
            <a:ext cx="2011680" cy="658368"/>
          </a:xfrm>
          <a:prstGeom prst="rect">
            <a:avLst/>
          </a:prstGeom>
          <a:solidFill>
            <a:srgbClr val="1565A4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2066544" y="3346704"/>
            <a:ext cx="1956816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 Web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FFF"/>
                </a:solidFill>
              </a:rPr>
              <a:t>WiFi / HTTP Server</a:t>
            </a:r>
            <a:endParaRPr lang="en-US" sz="10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552" y="3401568"/>
            <a:ext cx="320040" cy="3200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581912" y="10424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77"/>
                </a:solidFill>
              </a:rPr>
              <a:t>Pulso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555577"/>
                </a:solidFill>
              </a:rPr>
              <a:t>Eco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4050792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77"/>
                </a:solidFill>
              </a:rPr>
              <a:t>PWM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4050792" y="16184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77"/>
                </a:solidFill>
              </a:rPr>
              <a:t>I²C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4050792" y="2386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77"/>
                </a:solidFill>
              </a:rPr>
              <a:t>SPI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2889504" y="305409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77"/>
                </a:solidFill>
              </a:rPr>
              <a:t>WiFi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6199632" y="960120"/>
            <a:ext cx="2651760" cy="304495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6227064" y="960120"/>
            <a:ext cx="2596896" cy="30449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1024128"/>
            <a:ext cx="530352" cy="53035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199632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ANÁLISIS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DASHBOARD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309360" y="2084832"/>
            <a:ext cx="2423160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309360" y="2084832"/>
            <a:ext cx="2423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Gráficas en tiempo real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6309360" y="2423160"/>
            <a:ext cx="2423160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309360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Conteo por intervalo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6309360" y="2761488"/>
            <a:ext cx="2423160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30936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Historial en SD (.csv)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6309360" y="3099816"/>
            <a:ext cx="2423160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309360" y="3099816"/>
            <a:ext cx="2423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Estadísticas por hora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6309360" y="3438144"/>
            <a:ext cx="2423160" cy="274320"/>
          </a:xfrm>
          <a:prstGeom prst="rect">
            <a:avLst/>
          </a:prstGeom>
          <a:solidFill>
            <a:srgbClr val="1B4F7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309360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OLED local status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5925312" y="2103120"/>
            <a:ext cx="2743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56" name="Shape 50"/>
          <p:cNvSpPr/>
          <p:nvPr/>
        </p:nvSpPr>
        <p:spPr>
          <a:xfrm>
            <a:off x="137160" y="4206240"/>
            <a:ext cx="58521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ADB5BD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1"/>
          <p:cNvSpPr/>
          <p:nvPr/>
        </p:nvSpPr>
        <p:spPr>
          <a:xfrm>
            <a:off x="228600" y="4251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Leyenda: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228600" y="4507992"/>
            <a:ext cx="201168" cy="201168"/>
          </a:xfrm>
          <a:prstGeom prst="rect">
            <a:avLst/>
          </a:prstGeom>
          <a:solidFill>
            <a:srgbClr val="1565A4"/>
          </a:solidFill>
          <a:ln/>
        </p:spPr>
      </p:sp>
      <p:sp>
        <p:nvSpPr>
          <p:cNvPr id="59" name="Text 53"/>
          <p:cNvSpPr/>
          <p:nvPr/>
        </p:nvSpPr>
        <p:spPr>
          <a:xfrm>
            <a:off x="475488" y="4489704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Entrada / Sensor</a:t>
            </a:r>
            <a:endParaRPr lang="en-US" sz="750" dirty="0"/>
          </a:p>
        </p:txBody>
      </p:sp>
      <p:sp>
        <p:nvSpPr>
          <p:cNvPr id="60" name="Shape 54"/>
          <p:cNvSpPr/>
          <p:nvPr/>
        </p:nvSpPr>
        <p:spPr>
          <a:xfrm>
            <a:off x="1645920" y="4507992"/>
            <a:ext cx="20116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1" name="Text 55"/>
          <p:cNvSpPr/>
          <p:nvPr/>
        </p:nvSpPr>
        <p:spPr>
          <a:xfrm>
            <a:off x="1892808" y="4489704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Actuadores</a:t>
            </a:r>
            <a:endParaRPr lang="en-US" sz="750" dirty="0"/>
          </a:p>
        </p:txBody>
      </p:sp>
      <p:sp>
        <p:nvSpPr>
          <p:cNvPr id="62" name="Shape 56"/>
          <p:cNvSpPr/>
          <p:nvPr/>
        </p:nvSpPr>
        <p:spPr>
          <a:xfrm>
            <a:off x="3063240" y="4507992"/>
            <a:ext cx="201168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3" name="Text 57"/>
          <p:cNvSpPr/>
          <p:nvPr/>
        </p:nvSpPr>
        <p:spPr>
          <a:xfrm>
            <a:off x="3310128" y="4489704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Visualización</a:t>
            </a:r>
            <a:endParaRPr lang="en-US" sz="750" dirty="0"/>
          </a:p>
        </p:txBody>
      </p:sp>
      <p:sp>
        <p:nvSpPr>
          <p:cNvPr id="64" name="Shape 58"/>
          <p:cNvSpPr/>
          <p:nvPr/>
        </p:nvSpPr>
        <p:spPr>
          <a:xfrm>
            <a:off x="4480560" y="4507992"/>
            <a:ext cx="201168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5" name="Text 59"/>
          <p:cNvSpPr/>
          <p:nvPr/>
        </p:nvSpPr>
        <p:spPr>
          <a:xfrm>
            <a:off x="4727448" y="4489704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A"/>
                </a:solidFill>
              </a:rPr>
              <a:t>Almacenamiento</a:t>
            </a:r>
            <a:endParaRPr lang="en-US" sz="750" dirty="0"/>
          </a:p>
        </p:txBody>
      </p:sp>
      <p:sp>
        <p:nvSpPr>
          <p:cNvPr id="66" name="Shape 6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7" name="Text 61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</a:rPr>
              <a:t>Sistema Inteligente de Tráfico Urbano  |  ESP32 DevKit V1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COMPONENTES DE HARDWARE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4592" y="868680"/>
            <a:ext cx="2743200" cy="17373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6868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784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" y="13624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 DevKit V1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7744" y="165506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F0F8"/>
                </a:solidFill>
              </a:rPr>
              <a:t>Microcontrolador principal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7744" y="1874520"/>
            <a:ext cx="25968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37744" y="1911096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WiFi + BT integrado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GPIO múltiple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ADC / I²C / SPI / PWM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45536" y="868680"/>
            <a:ext cx="2743200" cy="1737360"/>
          </a:xfrm>
          <a:prstGeom prst="rect">
            <a:avLst/>
          </a:prstGeom>
          <a:solidFill>
            <a:srgbClr val="1565A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45536" y="86868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97840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18688" y="13624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HC-SR04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18688" y="165506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F0F8"/>
                </a:solidFill>
              </a:rPr>
              <a:t>Sensor Ultrasónico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18688" y="1874520"/>
            <a:ext cx="25968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3218688" y="1911096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Rango: 2–400 cm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Trigger + Echo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Detección vehicular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26480" y="868680"/>
            <a:ext cx="2743200" cy="173736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86868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6"/>
          <p:cNvSpPr/>
          <p:nvPr/>
        </p:nvSpPr>
        <p:spPr>
          <a:xfrm>
            <a:off x="6199632" y="13624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LEDs RGB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199632" y="165506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F0F8"/>
                </a:solidFill>
              </a:rPr>
              <a:t>Semáforo Visual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199632" y="1874520"/>
            <a:ext cx="25968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6199632" y="1911096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Rojo / Amarillo / Verde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Control PWM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Luz de estado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64592" y="2834640"/>
            <a:ext cx="2743200" cy="1737360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64592" y="283464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44368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37744" y="332841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Módulo MicroSD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237744" y="362102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F0F8"/>
                </a:solidFill>
              </a:rPr>
              <a:t>Registro de Datos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237744" y="3840480"/>
            <a:ext cx="25968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237744" y="3877056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Protocolo SPI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Formato FAT32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Archivos .csv / .log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145536" y="2834640"/>
            <a:ext cx="2743200" cy="1737360"/>
          </a:xfrm>
          <a:prstGeom prst="rect">
            <a:avLst/>
          </a:prstGeom>
          <a:solidFill>
            <a:srgbClr val="8E44A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145536" y="283464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28"/>
          <p:cNvSpPr/>
          <p:nvPr/>
        </p:nvSpPr>
        <p:spPr>
          <a:xfrm>
            <a:off x="3218688" y="332841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Display OLED 0.96"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218688" y="362102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F0F8"/>
                </a:solidFill>
              </a:rPr>
              <a:t>Pantalla Local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3218688" y="3840480"/>
            <a:ext cx="259689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3218688" y="3877056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128×64 px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Protocolo I²C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Estado en tiempo real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3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</a:rPr>
              <a:t>Sistema Inteligente de Tráfico Urbano  |  Hardware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MÉTRICAS DE EVALUACIÓN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8046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04672"/>
            <a:ext cx="2743200" cy="256032"/>
          </a:xfrm>
          <a:prstGeom prst="rect">
            <a:avLst/>
          </a:prstGeom>
          <a:solidFill>
            <a:srgbClr val="1565A4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" y="84124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841248"/>
            <a:ext cx="3057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565A4"/>
                </a:solidFill>
              </a:rPr>
              <a:t>M1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93776" y="84124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Precisión del Sensor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6032" y="109728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5A4"/>
                </a:solidFill>
              </a:rPr>
              <a:t>≥ 95%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61872" y="1124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55555"/>
                </a:solidFill>
              </a:rPr>
              <a:t>detección correcta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554480"/>
            <a:ext cx="2560320" cy="13716"/>
          </a:xfrm>
          <a:prstGeom prst="rect">
            <a:avLst/>
          </a:prstGeom>
          <a:solidFill>
            <a:srgbClr val="DD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5819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Porcentaje de vehículos detectados correctamente por el HC-SR04 respecto al total real que pasa por el punto de medición.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56032" y="2286000"/>
            <a:ext cx="2560320" cy="347472"/>
          </a:xfrm>
          <a:prstGeom prst="rect">
            <a:avLst/>
          </a:prstGeom>
          <a:solidFill>
            <a:srgbClr val="EA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2860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66"/>
                </a:solidFill>
              </a:rPr>
              <a:t>Medición: Conteo manual vs. conteo automático en 100 vehículos de prueba.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145536" y="8046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45536" y="804672"/>
            <a:ext cx="274320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18688" y="84124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163824" y="841248"/>
            <a:ext cx="3057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7AE60"/>
                </a:solidFill>
              </a:rPr>
              <a:t>M2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474720" y="84124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Reducción de Tiempo de Espera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36976" y="109728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≥ 20%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42816" y="1124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55555"/>
                </a:solidFill>
              </a:rPr>
              <a:t>vs. semáforo fijo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36976" y="1554480"/>
            <a:ext cx="2560320" cy="13716"/>
          </a:xfrm>
          <a:prstGeom prst="rect">
            <a:avLst/>
          </a:prstGeom>
          <a:solidFill>
            <a:srgbClr val="DDECF5"/>
          </a:solidFill>
          <a:ln/>
        </p:spPr>
      </p:sp>
      <p:sp>
        <p:nvSpPr>
          <p:cNvPr id="23" name="Text 21"/>
          <p:cNvSpPr/>
          <p:nvPr/>
        </p:nvSpPr>
        <p:spPr>
          <a:xfrm>
            <a:off x="3236976" y="15819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Disminución del tiempo promedio que un vehículo permanece detenido en rojo comparado con un semáforo de ciclo fijo equivalente.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236976" y="2286000"/>
            <a:ext cx="2560320" cy="347472"/>
          </a:xfrm>
          <a:prstGeom prst="rect">
            <a:avLst/>
          </a:prstGeom>
          <a:solidFill>
            <a:srgbClr val="EA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2860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66"/>
                </a:solidFill>
              </a:rPr>
              <a:t>Medición: Cronometrado en simulación con patrones de tráfico alto/bajo.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26480" y="8046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804672"/>
            <a:ext cx="2743200" cy="25603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9632" y="84124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144768" y="841248"/>
            <a:ext cx="3057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E44AD"/>
                </a:solidFill>
              </a:rPr>
              <a:t>M3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455664" y="84124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Latencia de Respuesta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1097280"/>
            <a:ext cx="11228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</a:rPr>
              <a:t>&lt; 500 ms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1124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55555"/>
                </a:solidFill>
              </a:rPr>
              <a:t>sensor → cambio de fase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17920" y="1554480"/>
            <a:ext cx="2560320" cy="13716"/>
          </a:xfrm>
          <a:prstGeom prst="rect">
            <a:avLst/>
          </a:prstGeom>
          <a:solidFill>
            <a:srgbClr val="DDECF5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5819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Tiempo desde que el sensor detecta un cambio en el flujo vehicular hasta que el sistema actualiza el estado del semáforo.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217920" y="2286000"/>
            <a:ext cx="2560320" cy="347472"/>
          </a:xfrm>
          <a:prstGeom prst="rect">
            <a:avLst/>
          </a:prstGeom>
          <a:solidFill>
            <a:srgbClr val="EA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22860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66"/>
                </a:solidFill>
              </a:rPr>
              <a:t>Medición: Medición con timestamp en el firmware del ESP32.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64592" y="281635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64592" y="2816352"/>
            <a:ext cx="27432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Shape 37"/>
          <p:cNvSpPr/>
          <p:nvPr/>
        </p:nvSpPr>
        <p:spPr>
          <a:xfrm>
            <a:off x="237744" y="285292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37744" y="2852928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67E22"/>
                </a:solidFill>
              </a:rPr>
              <a:t>M4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93776" y="285292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Integridad del Registro SD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6032" y="31089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</a:rPr>
              <a:t>100%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261872" y="3136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55555"/>
                </a:solidFill>
              </a:rPr>
              <a:t>datos sin pérdida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3566160"/>
            <a:ext cx="2560320" cy="13716"/>
          </a:xfrm>
          <a:prstGeom prst="rect">
            <a:avLst/>
          </a:prstGeom>
          <a:solidFill>
            <a:srgbClr val="DDECF5"/>
          </a:solidFill>
          <a:ln/>
        </p:spPr>
      </p:sp>
      <p:sp>
        <p:nvSpPr>
          <p:cNvPr id="45" name="Text 43"/>
          <p:cNvSpPr/>
          <p:nvPr/>
        </p:nvSpPr>
        <p:spPr>
          <a:xfrm>
            <a:off x="256032" y="35935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Completitud de los registros almacenados en la tarjeta MicroSD durante sesiones de prueba de 1 hora continua.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56032" y="4297680"/>
            <a:ext cx="2560320" cy="347472"/>
          </a:xfrm>
          <a:prstGeom prst="rect">
            <a:avLst/>
          </a:prstGeom>
          <a:solidFill>
            <a:srgbClr val="EA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2976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66"/>
                </a:solidFill>
              </a:rPr>
              <a:t>Medición: Comparación de registros esperados vs. registros almacenados.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145536" y="281635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145536" y="2816352"/>
            <a:ext cx="274320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Shape 48"/>
          <p:cNvSpPr/>
          <p:nvPr/>
        </p:nvSpPr>
        <p:spPr>
          <a:xfrm>
            <a:off x="3218688" y="2852928"/>
            <a:ext cx="256032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218688" y="2852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0392B"/>
                </a:solidFill>
              </a:rPr>
              <a:t>M5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474720" y="285292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Disponibilidad del Dashboard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36976" y="31089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</a:rPr>
              <a:t>≥ 99%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4242816" y="3136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55555"/>
                </a:solidFill>
              </a:rPr>
              <a:t>uptime en red local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36976" y="3566160"/>
            <a:ext cx="2560320" cy="13716"/>
          </a:xfrm>
          <a:prstGeom prst="rect">
            <a:avLst/>
          </a:prstGeom>
          <a:solidFill>
            <a:srgbClr val="DDECF5"/>
          </a:solidFill>
          <a:ln/>
        </p:spPr>
      </p:sp>
      <p:sp>
        <p:nvSpPr>
          <p:cNvPr id="56" name="Text 54"/>
          <p:cNvSpPr/>
          <p:nvPr/>
        </p:nvSpPr>
        <p:spPr>
          <a:xfrm>
            <a:off x="3236976" y="35935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Tiempo en que el dashboard web es accesible vía WiFi durante una sesión de operación continua de 8 horas.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236976" y="4297680"/>
            <a:ext cx="2560320" cy="347472"/>
          </a:xfrm>
          <a:prstGeom prst="rect">
            <a:avLst/>
          </a:prstGeom>
          <a:solidFill>
            <a:srgbClr val="EA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3552" y="42976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66"/>
                </a:solidFill>
              </a:rPr>
              <a:t>Medición: Ping periódico automatizado cada 30 segundos.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126480" y="281635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26480" y="2816352"/>
            <a:ext cx="2743200" cy="25603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61" name="Shape 59"/>
          <p:cNvSpPr/>
          <p:nvPr/>
        </p:nvSpPr>
        <p:spPr>
          <a:xfrm>
            <a:off x="6199632" y="285292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199632" y="2852928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A085"/>
                </a:solidFill>
              </a:rPr>
              <a:t>M6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455664" y="285292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Throughput de Datos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217920" y="31089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085"/>
                </a:solidFill>
              </a:rPr>
              <a:t>≥ 1 reg/seg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7223760" y="3136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55555"/>
                </a:solidFill>
              </a:rPr>
              <a:t>escritura en SD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217920" y="3566160"/>
            <a:ext cx="2560320" cy="13716"/>
          </a:xfrm>
          <a:prstGeom prst="rect">
            <a:avLst/>
          </a:prstGeom>
          <a:solidFill>
            <a:srgbClr val="DDECF5"/>
          </a:solidFill>
          <a:ln/>
        </p:spPr>
      </p:sp>
      <p:sp>
        <p:nvSpPr>
          <p:cNvPr id="67" name="Text 65"/>
          <p:cNvSpPr/>
          <p:nvPr/>
        </p:nvSpPr>
        <p:spPr>
          <a:xfrm>
            <a:off x="6217920" y="35935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Frecuencia mínima con que el sistema registra datos de flujo vehicular en la tarjeta MicroSD sin pérdidas ni bloqueos.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217920" y="4297680"/>
            <a:ext cx="2560320" cy="347472"/>
          </a:xfrm>
          <a:prstGeom prst="rect">
            <a:avLst/>
          </a:prstGeom>
          <a:solidFill>
            <a:srgbClr val="EA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54496" y="42976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66"/>
                </a:solidFill>
              </a:rPr>
              <a:t>Medición: Análisis de timestamps en archivos .csv generados.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1" name="Text 69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DB5BD"/>
                </a:solidFill>
              </a:rPr>
              <a:t>Sistema Inteligente de Tráfico Urbano  |  Métricas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869</Words>
  <Application>Microsoft Office PowerPoint</Application>
  <PresentationFormat>Presentación en pantalla (16:9)</PresentationFormat>
  <Paragraphs>179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de Tráfico Urbano</dc:title>
  <dc:subject>PptxGenJS Presentation</dc:subject>
  <dc:creator>PptxGenJS</dc:creator>
  <cp:lastModifiedBy>UNFV</cp:lastModifiedBy>
  <cp:revision>3</cp:revision>
  <dcterms:created xsi:type="dcterms:W3CDTF">2026-05-12T00:51:22Z</dcterms:created>
  <dcterms:modified xsi:type="dcterms:W3CDTF">2026-05-12T00:55:32Z</dcterms:modified>
</cp:coreProperties>
</file>